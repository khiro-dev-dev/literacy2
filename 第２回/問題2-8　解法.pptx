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4" r:id="rId6"/>
    <p:sldId id="265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3DE7A-3D6B-4FEC-A380-ED751CF1B903}" v="6" dt="2026-09-22T03:45:42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79731" autoAdjust="0"/>
  </p:normalViewPr>
  <p:slideViewPr>
    <p:cSldViewPr snapToGrid="0">
      <p:cViewPr varScale="1">
        <p:scale>
          <a:sx n="63" d="100"/>
          <a:sy n="63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谷　泰慶" userId="7ae8fee0-ff36-4095-9d85-1454dffce411" providerId="ADAL" clId="{52A33521-5F6A-4BD3-96CE-721F73E6FA88}"/>
    <pc:docChg chg="modSld">
      <pc:chgData name="小谷　泰慶" userId="7ae8fee0-ff36-4095-9d85-1454dffce411" providerId="ADAL" clId="{52A33521-5F6A-4BD3-96CE-721F73E6FA88}" dt="2026-09-22T03:45:42.482" v="5" actId="767"/>
      <pc:docMkLst>
        <pc:docMk/>
      </pc:docMkLst>
      <pc:sldChg chg="addSp modSp setBg">
        <pc:chgData name="小谷　泰慶" userId="7ae8fee0-ff36-4095-9d85-1454dffce411" providerId="ADAL" clId="{52A33521-5F6A-4BD3-96CE-721F73E6FA88}" dt="2026-09-22T03:45:42.482" v="5" actId="767"/>
        <pc:sldMkLst>
          <pc:docMk/>
          <pc:sldMk cId="2918207450" sldId="256"/>
        </pc:sldMkLst>
        <pc:spChg chg="add mod">
          <ac:chgData name="小谷　泰慶" userId="7ae8fee0-ff36-4095-9d85-1454dffce411" providerId="ADAL" clId="{52A33521-5F6A-4BD3-96CE-721F73E6FA88}" dt="2026-09-22T03:45:42.482" v="5" actId="767"/>
          <ac:spMkLst>
            <pc:docMk/>
            <pc:sldMk cId="2918207450" sldId="256"/>
            <ac:spMk id="4" creationId="{0421B600-C16B-7918-91F8-4859E7B93E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DE937-C5EE-4023-8D28-FF69AB89270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65C0C-F71D-4FA4-870B-C515849638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7410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65C0C-F71D-4FA4-870B-C5158496381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95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4E2096-79B4-4E30-6B5D-4E4AF0D3B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15E832A-3B61-B771-2235-15C6DAA42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993625-1C2B-2CB7-4D27-4473E93D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7F5164-2BC8-EDA5-F1B8-DBADCE09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C98F8B-055A-E2EA-E904-E3DED34E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89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D0EB7-BF75-B78F-CA52-A3DD91F1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C4ED5E-DE30-E5C1-2CE9-487BF02BE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7E7850-BC82-CF44-5633-7BD81862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4BE816-D63C-5800-2B85-466947AD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882D4A-8000-4DE4-E14B-39DF98F7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84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50FC8-3496-08B6-DE57-E1A9A692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0BC778-5E49-6981-5C4B-5588634D0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9BFA29-F8F9-A4A5-55F6-D2EB6397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CFD46A-DE5A-7020-598C-C7CA9569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374454-9F7D-AF7B-A2C3-C0C42FD5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4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9E7ACA-2441-3346-ACA2-5D2A66EF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62BCE4-EC76-3005-7BE2-6AFBFA33B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DF314C8-8DA7-B3BE-B89C-00B826F6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2CB597-C123-DA14-D816-E80066BB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4090FA-9568-8697-0409-6C8EC277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91BC5C-C448-CE41-CC65-839BAC15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36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82740-1003-1B6A-BD2C-9E026654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0AE30D-2E1E-00FB-7AB2-CAB914BE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86BBC3-2D35-ED00-7B44-F6FAF4318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15C980-2A26-7948-17C8-14DEA6218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4548CE-CE91-9401-E5A7-5CD58CA14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2F33171-7EEB-A96D-055F-B11B1B749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C36D5-5D27-6D1C-C009-F4F3AAAE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A57136-499E-B2D9-AEE6-83C780F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79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EF22F-4F98-410D-336F-630B9CEB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2D46355-E798-1052-B341-99A8BE593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0C156DA-6D1A-2720-7A85-190E563E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E83F9D-8327-BC06-6924-E63B4F28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67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CE03A2E-9DFB-D4ED-17BB-18E020D1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E59204B-3C78-AAE5-B016-2F8611F6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394FD7-0E2E-E5C7-433B-73C7AA29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17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F5B3C-B2F1-9887-E31A-D2A6FC59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4271DD-E77B-BD4A-1082-DD725FC03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641CBE3-807A-7CB4-C17A-CB7AF0410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332636-D37D-EF38-775B-E79C208A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12FC5B-9450-BAC8-67C6-2B18107C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88D4FD-52E5-0CE7-86A9-6C0B491A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05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5639C-74E3-B06B-B042-F772FCC3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7E20C62-6FD6-559F-7E7F-8EF19EA0A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AA34F1-78AB-B871-DA11-DFE148475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71372E-89F1-AAEB-2957-BFFE069A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A1BF14-E00C-EE1E-3E8F-88BB2B08F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012615-C881-EE11-BE9D-98F9E528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563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105A61-C6C4-A721-3ADE-00EE3194D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107017-E0CB-5196-D49D-03A1AD109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426B65-F0DB-BB25-DBC2-DEB6D36F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6F3737-BCDC-28A0-59B4-EC3B030B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210C89-D4AD-EB15-D958-CFB55603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53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DEBCB3-725D-3E74-51F2-1AFD36645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1DAA47-6FD3-37B1-8C12-96715E32F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B29B15-D5DE-E5CF-D4A6-469E2A6F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CC7508-8ADA-9DFF-87C0-2CDB5BDF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CE0D9-7AA7-E3B9-A9FB-8149C6DF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094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C9D3FD-87C7-1B6D-DA60-5E4D3812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4736EA-0352-6109-F0F3-5B98AAD15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7DCD3B-1D0D-2BCF-502F-2C6C79723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434DA-7CD5-47F1-ADBF-1F242092203F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C61044-3AC1-C2DC-E1EE-0F6A766C7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2B0D02-FFC8-570E-B3EC-29273D256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51156-5481-4E8F-A196-A79D3794C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630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52CA1-4288-D6C5-EA72-66F6F9FF8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 </a:t>
            </a:r>
            <a:r>
              <a:rPr kumimoji="1" lang="en-US" altLang="ja-JP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2-8</a:t>
            </a:r>
            <a:r>
              <a:rPr kumimoji="1" lang="ja-JP" altLang="en-US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解法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21B600-C16B-7918-91F8-4859E7B93EE3}"/>
              </a:ext>
            </a:extLst>
          </p:cNvPr>
          <p:cNvSpPr txBox="1"/>
          <p:nvPr/>
        </p:nvSpPr>
        <p:spPr>
          <a:xfrm>
            <a:off x="7508240" y="3646210"/>
            <a:ext cx="4765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solidFill>
                  <a:schemeClr val="accent2"/>
                </a:solidFill>
              </a:rPr>
              <a:t>26G3062 </a:t>
            </a:r>
            <a:r>
              <a:rPr kumimoji="1" lang="ja-JP" altLang="en-US" sz="3600" b="1" dirty="0">
                <a:solidFill>
                  <a:schemeClr val="accent2"/>
                </a:solidFill>
              </a:rPr>
              <a:t>小谷　泰慶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B0AB51D-873C-DFB2-4E36-494D99D6C829}"/>
              </a:ext>
            </a:extLst>
          </p:cNvPr>
          <p:cNvCxnSpPr/>
          <p:nvPr/>
        </p:nvCxnSpPr>
        <p:spPr>
          <a:xfrm>
            <a:off x="2776756" y="3509963"/>
            <a:ext cx="648469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20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14BC599-2C0F-F024-413A-55F227F16E04}"/>
              </a:ext>
            </a:extLst>
          </p:cNvPr>
          <p:cNvSpPr/>
          <p:nvPr/>
        </p:nvSpPr>
        <p:spPr>
          <a:xfrm>
            <a:off x="375920" y="213359"/>
            <a:ext cx="111760" cy="13995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BEADC94-496E-1618-F843-BB133D10CBC8}"/>
              </a:ext>
            </a:extLst>
          </p:cNvPr>
          <p:cNvSpPr/>
          <p:nvPr/>
        </p:nvSpPr>
        <p:spPr>
          <a:xfrm>
            <a:off x="549275" y="213359"/>
            <a:ext cx="45719" cy="13995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D4FD94C-966C-66AA-277C-D7EE2BD8C6C1}"/>
              </a:ext>
            </a:extLst>
          </p:cNvPr>
          <p:cNvSpPr txBox="1"/>
          <p:nvPr/>
        </p:nvSpPr>
        <p:spPr>
          <a:xfrm>
            <a:off x="1716835" y="0"/>
            <a:ext cx="97678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ＭＳ Ｐ明朝" panose="02020600040205080304" pitchFamily="18" charset="-128"/>
                <a:ea typeface="ＭＳ Ｐ明朝" panose="02020600040205080304" pitchFamily="18" charset="-128"/>
              </a:rPr>
              <a:t>要素に重複のあるリストから重複を削除した集合を求める関数</a:t>
            </a:r>
            <a:r>
              <a:rPr lang="en-US" altLang="ja-JP" sz="3200" dirty="0">
                <a:latin typeface="ＭＳ Ｐ明朝" panose="02020600040205080304" pitchFamily="18" charset="-128"/>
                <a:ea typeface="ＭＳ Ｐ明朝" panose="02020600040205080304" pitchFamily="18" charset="-128"/>
              </a:rPr>
              <a:t>f</a:t>
            </a:r>
            <a:r>
              <a:rPr lang="ja-JP" altLang="en-US" sz="3200" dirty="0">
                <a:latin typeface="ＭＳ Ｐ明朝" panose="02020600040205080304" pitchFamily="18" charset="-128"/>
                <a:ea typeface="ＭＳ Ｐ明朝" panose="02020600040205080304" pitchFamily="18" charset="-128"/>
              </a:rPr>
              <a:t>を作れ</a:t>
            </a:r>
            <a:endParaRPr lang="en-US" altLang="ja-JP" sz="3200" dirty="0">
              <a:latin typeface="ＭＳ Ｐ明朝" panose="02020600040205080304" pitchFamily="18" charset="-128"/>
              <a:ea typeface="ＭＳ Ｐ明朝" panose="02020600040205080304" pitchFamily="18" charset="-128"/>
            </a:endParaRPr>
          </a:p>
          <a:p>
            <a:r>
              <a:rPr lang="en-US" altLang="ja-JP" sz="2400" dirty="0">
                <a:latin typeface="Consolas" panose="020B0609020204030204" pitchFamily="49" charset="0"/>
                <a:ea typeface="ＭＳ Ｐ明朝" panose="02020600040205080304" pitchFamily="18" charset="-128"/>
              </a:rPr>
              <a:t>f(['a', 'b', 'a', 'c', 'b'])</a:t>
            </a:r>
            <a:r>
              <a:rPr lang="ja-JP" altLang="en-US" sz="2400" dirty="0">
                <a:latin typeface="Consolas" panose="020B0609020204030204" pitchFamily="49" charset="0"/>
                <a:ea typeface="ＭＳ Ｐ明朝" panose="02020600040205080304" pitchFamily="18" charset="-128"/>
              </a:rPr>
              <a:t>　</a:t>
            </a:r>
            <a:r>
              <a:rPr lang="ja-JP" altLang="en-US" sz="3200" dirty="0">
                <a:latin typeface="ＭＳ Ｐ明朝" panose="02020600040205080304" pitchFamily="18" charset="-128"/>
                <a:ea typeface="ＭＳ Ｐ明朝" panose="02020600040205080304" pitchFamily="18" charset="-128"/>
              </a:rPr>
              <a:t>の結果の要素数は？．</a:t>
            </a:r>
            <a:endParaRPr lang="en-US" altLang="ja-JP" sz="3200" dirty="0">
              <a:latin typeface="ＭＳ Ｐ明朝" panose="02020600040205080304" pitchFamily="18" charset="-128"/>
              <a:ea typeface="ＭＳ Ｐ明朝" panose="02020600040205080304" pitchFamily="18" charset="-128"/>
            </a:endParaRPr>
          </a:p>
          <a:p>
            <a:endParaRPr kumimoji="1" lang="ja-JP" altLang="en-US" sz="3200" dirty="0">
              <a:latin typeface="ＭＳ Ｐ明朝" panose="02020600040205080304" pitchFamily="18" charset="-128"/>
              <a:ea typeface="ＭＳ Ｐ明朝" panose="02020600040205080304" pitchFamily="18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0ABB713-2476-F6C2-A5D0-E1F923FE1866}"/>
              </a:ext>
            </a:extLst>
          </p:cNvPr>
          <p:cNvSpPr/>
          <p:nvPr/>
        </p:nvSpPr>
        <p:spPr>
          <a:xfrm>
            <a:off x="707290" y="208633"/>
            <a:ext cx="989974" cy="13539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2-8</a:t>
            </a:r>
            <a:endParaRPr kumimoji="1" lang="ja-JP" altLang="en-US" sz="32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7915B44-9247-904F-2694-787D725B6199}"/>
              </a:ext>
            </a:extLst>
          </p:cNvPr>
          <p:cNvCxnSpPr>
            <a:cxnSpLocks/>
          </p:cNvCxnSpPr>
          <p:nvPr/>
        </p:nvCxnSpPr>
        <p:spPr>
          <a:xfrm>
            <a:off x="373218" y="1656787"/>
            <a:ext cx="11379936" cy="0"/>
          </a:xfrm>
          <a:prstGeom prst="line">
            <a:avLst/>
          </a:prstGeom>
          <a:ln>
            <a:gradFill flip="none" rotWithShape="1">
              <a:gsLst>
                <a:gs pos="8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98C8DDD0-183B-FCF9-6BFC-F7DC53FEEFE6}"/>
              </a:ext>
            </a:extLst>
          </p:cNvPr>
          <p:cNvSpPr/>
          <p:nvPr/>
        </p:nvSpPr>
        <p:spPr>
          <a:xfrm>
            <a:off x="594994" y="2016688"/>
            <a:ext cx="680720" cy="6807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03BB121-9306-8D07-98EC-0B42C7B8EF66}"/>
              </a:ext>
            </a:extLst>
          </p:cNvPr>
          <p:cNvSpPr/>
          <p:nvPr/>
        </p:nvSpPr>
        <p:spPr>
          <a:xfrm>
            <a:off x="594994" y="4618219"/>
            <a:ext cx="680720" cy="6807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3C72B25-F2E1-884F-1F1B-145DF2ED5EE6}"/>
              </a:ext>
            </a:extLst>
          </p:cNvPr>
          <p:cNvCxnSpPr>
            <a:stCxn id="16" idx="4"/>
            <a:endCxn id="18" idx="0"/>
          </p:cNvCxnSpPr>
          <p:nvPr/>
        </p:nvCxnSpPr>
        <p:spPr>
          <a:xfrm>
            <a:off x="935354" y="2697408"/>
            <a:ext cx="0" cy="1920811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1CB5BA4-A33B-421E-3F08-A7A789B8DFC6}"/>
              </a:ext>
            </a:extLst>
          </p:cNvPr>
          <p:cNvSpPr txBox="1"/>
          <p:nvPr/>
        </p:nvSpPr>
        <p:spPr>
          <a:xfrm>
            <a:off x="1398870" y="2090972"/>
            <a:ext cx="464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アルゴリズム解説</a:t>
            </a:r>
            <a:endParaRPr kumimoji="1" lang="ja-JP" altLang="en-US" sz="3200" b="1" dirty="0">
              <a:solidFill>
                <a:schemeClr val="accent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DCB5414-4DDF-227B-687D-FCBE1C1EE727}"/>
              </a:ext>
            </a:extLst>
          </p:cNvPr>
          <p:cNvSpPr txBox="1"/>
          <p:nvPr/>
        </p:nvSpPr>
        <p:spPr>
          <a:xfrm>
            <a:off x="1398869" y="4666191"/>
            <a:ext cx="5524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解答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A291224-0C9E-C7A3-1639-2F45F9A1B146}"/>
              </a:ext>
            </a:extLst>
          </p:cNvPr>
          <p:cNvSpPr txBox="1"/>
          <p:nvPr/>
        </p:nvSpPr>
        <p:spPr>
          <a:xfrm>
            <a:off x="1584968" y="2764783"/>
            <a:ext cx="54254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accent2"/>
                </a:solidFill>
              </a:rPr>
              <a:t>1.</a:t>
            </a:r>
            <a:r>
              <a:rPr lang="ja-JP" altLang="en-US" sz="2800" b="1" dirty="0">
                <a:solidFill>
                  <a:schemeClr val="accent2"/>
                </a:solidFill>
              </a:rPr>
              <a:t>概要</a:t>
            </a:r>
            <a:endParaRPr lang="en-US" altLang="ja-JP" sz="2800" b="1" dirty="0">
              <a:solidFill>
                <a:schemeClr val="accent2"/>
              </a:solidFill>
            </a:endParaRPr>
          </a:p>
          <a:p>
            <a:r>
              <a:rPr lang="en-US" altLang="ja-JP" sz="2800" b="1" dirty="0">
                <a:solidFill>
                  <a:schemeClr val="accent2"/>
                </a:solidFill>
              </a:rPr>
              <a:t>2.</a:t>
            </a:r>
            <a:r>
              <a:rPr lang="ja-JP" altLang="en-US" sz="2800" b="1" dirty="0">
                <a:solidFill>
                  <a:schemeClr val="accent2"/>
                </a:solidFill>
              </a:rPr>
              <a:t> ループ</a:t>
            </a:r>
            <a:endParaRPr lang="en-US" altLang="ja-JP" sz="2800" b="1" dirty="0">
              <a:solidFill>
                <a:schemeClr val="accent2"/>
              </a:solidFill>
            </a:endParaRPr>
          </a:p>
          <a:p>
            <a:r>
              <a:rPr lang="en-US" altLang="ja-JP" sz="2800" b="1" dirty="0">
                <a:solidFill>
                  <a:schemeClr val="accent2"/>
                </a:solidFill>
              </a:rPr>
              <a:t>3.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 </a:t>
            </a:r>
            <a:r>
              <a:rPr lang="en-US" altLang="ja-JP" sz="2800" b="1" dirty="0">
                <a:solidFill>
                  <a:schemeClr val="accent2"/>
                </a:solidFill>
              </a:rPr>
              <a:t>f</a:t>
            </a:r>
            <a:r>
              <a:rPr kumimoji="1" lang="en-US" altLang="ja-JP" sz="2800" b="1" dirty="0">
                <a:solidFill>
                  <a:schemeClr val="accent2"/>
                </a:solidFill>
              </a:rPr>
              <a:t>or - else</a:t>
            </a:r>
            <a:endParaRPr lang="en-US" altLang="ja-JP" sz="2800" b="1" dirty="0">
              <a:solidFill>
                <a:schemeClr val="accent2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61DCD9D-FE2B-76AB-4D52-2502DA1E4098}"/>
              </a:ext>
            </a:extLst>
          </p:cNvPr>
          <p:cNvSpPr txBox="1"/>
          <p:nvPr/>
        </p:nvSpPr>
        <p:spPr>
          <a:xfrm>
            <a:off x="1498343" y="5345162"/>
            <a:ext cx="542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2"/>
                </a:solidFill>
              </a:rPr>
              <a:t>クイズの解答</a:t>
            </a:r>
            <a:endParaRPr kumimoji="1" lang="en-US" altLang="ja-JP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41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E2448-8E2B-89B9-824E-76F3B8BF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0CAC8D6-6E87-8174-494E-7D47E089CE31}"/>
              </a:ext>
            </a:extLst>
          </p:cNvPr>
          <p:cNvCxnSpPr>
            <a:cxnSpLocks/>
          </p:cNvCxnSpPr>
          <p:nvPr/>
        </p:nvCxnSpPr>
        <p:spPr>
          <a:xfrm>
            <a:off x="337140" y="1309131"/>
            <a:ext cx="11379936" cy="0"/>
          </a:xfrm>
          <a:prstGeom prst="line">
            <a:avLst/>
          </a:prstGeom>
          <a:ln>
            <a:gradFill flip="none" rotWithShape="1">
              <a:gsLst>
                <a:gs pos="8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8D4C3C-F3E9-8010-7633-6132A95F97E6}"/>
              </a:ext>
            </a:extLst>
          </p:cNvPr>
          <p:cNvSpPr txBox="1"/>
          <p:nvPr/>
        </p:nvSpPr>
        <p:spPr>
          <a:xfrm>
            <a:off x="1649128" y="143261"/>
            <a:ext cx="464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アルゴリズム解説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CFE66A1-76F7-B967-1394-3618D4094691}"/>
              </a:ext>
            </a:extLst>
          </p:cNvPr>
          <p:cNvSpPr txBox="1"/>
          <p:nvPr/>
        </p:nvSpPr>
        <p:spPr>
          <a:xfrm>
            <a:off x="8662667" y="838161"/>
            <a:ext cx="3054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accent2"/>
                </a:solidFill>
                <a:latin typeface="+mj-lt"/>
              </a:rPr>
              <a:t>~ </a:t>
            </a:r>
            <a:r>
              <a:rPr lang="ja-JP" altLang="en-US" sz="2800" dirty="0">
                <a:solidFill>
                  <a:schemeClr val="accent2"/>
                </a:solidFill>
                <a:latin typeface="+mj-lt"/>
              </a:rPr>
              <a:t>概要 </a:t>
            </a:r>
            <a:r>
              <a:rPr lang="en-US" altLang="ja-JP" sz="2800" dirty="0">
                <a:solidFill>
                  <a:schemeClr val="accent2"/>
                </a:solidFill>
                <a:latin typeface="+mj-lt"/>
              </a:rPr>
              <a:t>~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15F1D750-55F9-7887-2882-B54D917D967B}"/>
              </a:ext>
            </a:extLst>
          </p:cNvPr>
          <p:cNvSpPr/>
          <p:nvPr/>
        </p:nvSpPr>
        <p:spPr>
          <a:xfrm>
            <a:off x="522983" y="170427"/>
            <a:ext cx="949682" cy="94968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4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3BA086D-F8AC-6F35-9D94-942BBBBF11E7}"/>
              </a:ext>
            </a:extLst>
          </p:cNvPr>
          <p:cNvSpPr txBox="1"/>
          <p:nvPr/>
        </p:nvSpPr>
        <p:spPr>
          <a:xfrm>
            <a:off x="2489200" y="1456936"/>
            <a:ext cx="721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600" dirty="0">
                <a:latin typeface="Consolas" panose="020B0609020204030204" pitchFamily="49" charset="0"/>
                <a:ea typeface="ＭＳ Ｐ明朝" panose="02020600040205080304" pitchFamily="18" charset="-128"/>
              </a:rPr>
              <a:t>['a', 'b', 'a', 'c', 'b']</a:t>
            </a:r>
            <a:endParaRPr lang="ja-JP" altLang="en-US" sz="28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FB83D9B-1B2B-8E17-82F4-0F2CFC22448B}"/>
              </a:ext>
            </a:extLst>
          </p:cNvPr>
          <p:cNvSpPr txBox="1"/>
          <p:nvPr/>
        </p:nvSpPr>
        <p:spPr>
          <a:xfrm>
            <a:off x="553278" y="2748046"/>
            <a:ext cx="96365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箱とマーカーを用意する</a:t>
            </a:r>
            <a:endParaRPr kumimoji="1"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ja-JP" altLang="en-US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en-US" altLang="ja-JP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4.</a:t>
            </a:r>
            <a:r>
              <a:rPr kumimoji="1" lang="ja-JP" altLang="en-US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マーカーの位置を左端に戻し、箱の位置を一つ右にずらす（</a:t>
            </a:r>
            <a:r>
              <a:rPr kumimoji="1" lang="en-US" altLang="ja-JP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1</a:t>
            </a:r>
            <a:r>
              <a:rPr kumimoji="1" lang="ja-JP" altLang="en-US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へ）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86D239BC-489A-AE17-781A-17629B0BFDB3}"/>
              </a:ext>
            </a:extLst>
          </p:cNvPr>
          <p:cNvCxnSpPr>
            <a:cxnSpLocks/>
          </p:cNvCxnSpPr>
          <p:nvPr/>
        </p:nvCxnSpPr>
        <p:spPr>
          <a:xfrm flipV="1">
            <a:off x="3572933" y="2198820"/>
            <a:ext cx="0" cy="453673"/>
          </a:xfrm>
          <a:prstGeom prst="straightConnector1">
            <a:avLst/>
          </a:prstGeom>
          <a:ln w="412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5E8280B-70E8-578B-202E-230A65CED134}"/>
              </a:ext>
            </a:extLst>
          </p:cNvPr>
          <p:cNvSpPr/>
          <p:nvPr/>
        </p:nvSpPr>
        <p:spPr>
          <a:xfrm>
            <a:off x="3183467" y="1361381"/>
            <a:ext cx="3679657" cy="8374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217767C-1F9D-0DE0-1C10-B9CF7AAAA707}"/>
              </a:ext>
            </a:extLst>
          </p:cNvPr>
          <p:cNvSpPr/>
          <p:nvPr/>
        </p:nvSpPr>
        <p:spPr>
          <a:xfrm>
            <a:off x="5708654" y="619496"/>
            <a:ext cx="774692" cy="1579321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0E92243-87D1-8D8D-E641-F67D36D77071}"/>
              </a:ext>
            </a:extLst>
          </p:cNvPr>
          <p:cNvSpPr txBox="1"/>
          <p:nvPr/>
        </p:nvSpPr>
        <p:spPr>
          <a:xfrm>
            <a:off x="905309" y="3249850"/>
            <a:ext cx="1126462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1.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箱を右に動かし、箱の右端の値（</a:t>
            </a:r>
            <a:r>
              <a:rPr lang="en-US" altLang="ja-JP" sz="2000" dirty="0" err="1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lst</a:t>
            </a:r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</a:t>
            </a:r>
            <a:r>
              <a:rPr lang="en-US" altLang="ja-JP" sz="2000" dirty="0" err="1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</a:t>
            </a:r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]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）を固定する</a:t>
            </a:r>
            <a:endParaRPr lang="en-US" altLang="ja-JP" sz="2000" dirty="0">
              <a:solidFill>
                <a:schemeClr val="accent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lang="ja-JP" altLang="en-US" sz="2000" dirty="0">
              <a:solidFill>
                <a:schemeClr val="accent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2.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マーカー（</a:t>
            </a:r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j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）の位置を左から右に動かして値を比較：</a:t>
            </a:r>
          </a:p>
          <a:p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	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○ </a:t>
            </a:r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固定した値</a:t>
            </a:r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] == [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マーカーの値</a:t>
            </a:r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] 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であれば </a:t>
            </a:r>
            <a:r>
              <a:rPr lang="ja-JP" altLang="en-US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「重複あり」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とみなし、比較を中断</a:t>
            </a:r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	</a:t>
            </a:r>
          </a:p>
          <a:p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	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○ そうでなければマーカーを右に動かす</a:t>
            </a:r>
          </a:p>
          <a:p>
            <a:endParaRPr lang="en-US" altLang="ja-JP" sz="2000" dirty="0">
              <a:solidFill>
                <a:schemeClr val="accent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3.【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追加</a:t>
            </a:r>
            <a:r>
              <a:rPr lang="en-US" altLang="ja-JP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  <a:r>
              <a:rPr lang="ja-JP" altLang="en-US" sz="2000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マーカーが右端に届くまでに一度も一致しなかったら、固定した値を結果に追加する</a:t>
            </a:r>
            <a:endParaRPr kumimoji="1" lang="ja-JP" altLang="en-US" sz="2000" dirty="0">
              <a:solidFill>
                <a:schemeClr val="accent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9FA2017-6D86-30E5-1F3D-AA138EF9937F}"/>
              </a:ext>
            </a:extLst>
          </p:cNvPr>
          <p:cNvCxnSpPr/>
          <p:nvPr/>
        </p:nvCxnSpPr>
        <p:spPr>
          <a:xfrm>
            <a:off x="802640" y="3249850"/>
            <a:ext cx="0" cy="22467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D21B1CE-3145-BF8B-0E5A-5D07FF9E0609}"/>
              </a:ext>
            </a:extLst>
          </p:cNvPr>
          <p:cNvSpPr txBox="1"/>
          <p:nvPr/>
        </p:nvSpPr>
        <p:spPr>
          <a:xfrm>
            <a:off x="5813427" y="619497"/>
            <a:ext cx="56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endParaRPr kumimoji="1" lang="ja-JP" altLang="en-US" sz="36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03EC072-CE4B-15C0-9A92-43E5CEA9CF7C}"/>
              </a:ext>
            </a:extLst>
          </p:cNvPr>
          <p:cNvSpPr txBox="1"/>
          <p:nvPr/>
        </p:nvSpPr>
        <p:spPr>
          <a:xfrm>
            <a:off x="3626538" y="2067651"/>
            <a:ext cx="56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dirty="0">
                <a:solidFill>
                  <a:srgbClr val="00B050"/>
                </a:solidFill>
                <a:latin typeface="Consolas" panose="020B0609020204030204" pitchFamily="49" charset="0"/>
              </a:rPr>
              <a:t>j</a:t>
            </a:r>
            <a:endParaRPr kumimoji="1" lang="ja-JP" altLang="en-US" sz="3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956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270D7-80F4-5A5D-E805-CD3B61561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0A81DD9-FFC4-EBF3-19F7-115F13AE2502}"/>
              </a:ext>
            </a:extLst>
          </p:cNvPr>
          <p:cNvCxnSpPr>
            <a:cxnSpLocks/>
          </p:cNvCxnSpPr>
          <p:nvPr/>
        </p:nvCxnSpPr>
        <p:spPr>
          <a:xfrm>
            <a:off x="337140" y="1309131"/>
            <a:ext cx="11379936" cy="0"/>
          </a:xfrm>
          <a:prstGeom prst="line">
            <a:avLst/>
          </a:prstGeom>
          <a:ln>
            <a:gradFill flip="none" rotWithShape="1">
              <a:gsLst>
                <a:gs pos="8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A5B2EA2-3681-FA54-A9A7-C2C32056AC8B}"/>
              </a:ext>
            </a:extLst>
          </p:cNvPr>
          <p:cNvSpPr txBox="1"/>
          <p:nvPr/>
        </p:nvSpPr>
        <p:spPr>
          <a:xfrm>
            <a:off x="1649128" y="143261"/>
            <a:ext cx="464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アルゴリズム解説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7C1C301-D425-264D-D34C-5A48FCB44B41}"/>
              </a:ext>
            </a:extLst>
          </p:cNvPr>
          <p:cNvSpPr txBox="1"/>
          <p:nvPr/>
        </p:nvSpPr>
        <p:spPr>
          <a:xfrm>
            <a:off x="8662667" y="838161"/>
            <a:ext cx="3054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accent2"/>
                </a:solidFill>
                <a:latin typeface="+mj-lt"/>
              </a:rPr>
              <a:t>~ </a:t>
            </a:r>
            <a:r>
              <a:rPr lang="ja-JP" altLang="en-US" sz="2800" dirty="0">
                <a:solidFill>
                  <a:schemeClr val="accent2"/>
                </a:solidFill>
                <a:latin typeface="+mj-lt"/>
              </a:rPr>
              <a:t>ループ </a:t>
            </a:r>
            <a:r>
              <a:rPr lang="en-US" altLang="ja-JP" sz="2800" dirty="0">
                <a:solidFill>
                  <a:schemeClr val="accent2"/>
                </a:solidFill>
                <a:latin typeface="+mj-lt"/>
              </a:rPr>
              <a:t>~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97FDDFD9-A45C-31F2-1027-6EA57D2CE979}"/>
              </a:ext>
            </a:extLst>
          </p:cNvPr>
          <p:cNvSpPr/>
          <p:nvPr/>
        </p:nvSpPr>
        <p:spPr>
          <a:xfrm>
            <a:off x="522983" y="170427"/>
            <a:ext cx="949682" cy="94968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4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8D79F0D-7E01-4F2D-66AB-8828FF54F9AC}"/>
              </a:ext>
            </a:extLst>
          </p:cNvPr>
          <p:cNvSpPr/>
          <p:nvPr/>
        </p:nvSpPr>
        <p:spPr>
          <a:xfrm>
            <a:off x="3942543" y="1406828"/>
            <a:ext cx="6247328" cy="2860486"/>
          </a:xfrm>
          <a:prstGeom prst="roundRect">
            <a:avLst>
              <a:gd name="adj" fmla="val 2741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ja-JP" sz="24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ja-JP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i </a:t>
            </a:r>
            <a:r>
              <a:rPr lang="ja-JP" altLang="ja-JP" sz="24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in</a:t>
            </a:r>
            <a:r>
              <a:rPr lang="ja-JP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range(</a:t>
            </a:r>
            <a:r>
              <a:rPr lang="ja-JP" altLang="ja-JP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len(lst)</a:t>
            </a:r>
            <a:r>
              <a:rPr lang="ja-JP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): </a:t>
            </a:r>
          </a:p>
          <a:p>
            <a:r>
              <a:rPr lang="ja-JP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        </a:t>
            </a:r>
            <a:r>
              <a:rPr lang="ja-JP" altLang="ja-JP" sz="24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ja-JP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j </a:t>
            </a:r>
            <a:r>
              <a:rPr lang="ja-JP" altLang="ja-JP" sz="24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in</a:t>
            </a:r>
            <a:r>
              <a:rPr lang="ja-JP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ja-JP" altLang="ja-JP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range(0,i)</a:t>
            </a:r>
            <a:r>
              <a:rPr lang="ja-JP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ja-JP" altLang="ja-JP" sz="24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</a:t>
            </a:r>
            <a:r>
              <a:rPr lang="ja-JP" altLang="ja-JP" sz="2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ja-JP" altLang="ja-JP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(lst[j] == lst[i]):</a:t>
            </a:r>
          </a:p>
          <a:p>
            <a:r>
              <a:rPr lang="ja-JP" altLang="ja-JP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            </a:t>
            </a:r>
            <a:r>
              <a:rPr lang="ja-JP" altLang="ja-JP" sz="2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break</a:t>
            </a:r>
            <a:endParaRPr lang="ja-JP" altLang="ja-JP" sz="2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ja-JP" altLang="ja-JP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ja-JP" altLang="ja-JP" sz="2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ja-JP" altLang="ja-JP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ja-JP" altLang="ja-JP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        result.append(lst[i])</a:t>
            </a:r>
          </a:p>
          <a:p>
            <a:r>
              <a:rPr lang="ja-JP" altLang="ja-JP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ja-JP" altLang="ja-JP" sz="2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ja-JP" altLang="ja-JP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result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1C0AF9-6B06-F9DB-3019-1CA455565299}"/>
              </a:ext>
            </a:extLst>
          </p:cNvPr>
          <p:cNvSpPr txBox="1"/>
          <p:nvPr/>
        </p:nvSpPr>
        <p:spPr>
          <a:xfrm>
            <a:off x="1383620" y="5112132"/>
            <a:ext cx="5313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len</a:t>
            </a:r>
            <a:r>
              <a:rPr lang="en-US" altLang="ja-JP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lst</a:t>
            </a:r>
            <a:r>
              <a:rPr lang="en-US" altLang="ja-JP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) 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</a:t>
            </a:r>
            <a:r>
              <a:rPr kumimoji="1" lang="en-US" altLang="ja-JP" b="1" dirty="0">
                <a:latin typeface="Consolas" panose="020B0609020204030204" pitchFamily="49" charset="0"/>
              </a:rPr>
              <a:t>[</a:t>
            </a:r>
            <a:r>
              <a:rPr kumimoji="1" lang="en-US" altLang="ja-JP" b="1" u="sng" dirty="0">
                <a:latin typeface="Consolas" panose="020B0609020204030204" pitchFamily="49" charset="0"/>
              </a:rPr>
              <a:t>0,1,2,3,4,5,......,i</a:t>
            </a:r>
            <a:r>
              <a:rPr kumimoji="1" lang="en-US" altLang="ja-JP" dirty="0">
                <a:latin typeface="Consolas" panose="020B0609020204030204" pitchFamily="49" charset="0"/>
              </a:rPr>
              <a:t>,1,…</a:t>
            </a:r>
            <a:r>
              <a:rPr kumimoji="1" lang="en-US" altLang="ja-JP" dirty="0" err="1">
                <a:latin typeface="Consolas" panose="020B0609020204030204" pitchFamily="49" charset="0"/>
              </a:rPr>
              <a:t>len</a:t>
            </a:r>
            <a:r>
              <a:rPr kumimoji="1" lang="en-US" altLang="ja-JP" dirty="0">
                <a:latin typeface="Consolas" panose="020B0609020204030204" pitchFamily="49" charset="0"/>
              </a:rPr>
              <a:t>(</a:t>
            </a:r>
            <a:r>
              <a:rPr kumimoji="1" lang="en-US" altLang="ja-JP" dirty="0" err="1">
                <a:latin typeface="Consolas" panose="020B0609020204030204" pitchFamily="49" charset="0"/>
              </a:rPr>
              <a:t>lst</a:t>
            </a:r>
            <a:r>
              <a:rPr kumimoji="1" lang="en-US" altLang="ja-JP" dirty="0">
                <a:latin typeface="Consolas" panose="020B0609020204030204" pitchFamily="49" charset="0"/>
              </a:rPr>
              <a:t>)]	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8C66783-AD76-D5CC-EFC0-C4ED6D1F28D2}"/>
              </a:ext>
            </a:extLst>
          </p:cNvPr>
          <p:cNvSpPr txBox="1"/>
          <p:nvPr/>
        </p:nvSpPr>
        <p:spPr>
          <a:xfrm>
            <a:off x="6787908" y="5041037"/>
            <a:ext cx="32239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range(0,i)</a:t>
            </a:r>
            <a:r>
              <a:rPr lang="en-US" altLang="ja-JP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 :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 </a:t>
            </a:r>
            <a:r>
              <a:rPr lang="en-US" altLang="ja-JP" b="1" dirty="0">
                <a:latin typeface="Consolas" panose="020B0609020204030204" pitchFamily="49" charset="0"/>
              </a:rPr>
              <a:t>[</a:t>
            </a:r>
            <a:r>
              <a:rPr lang="en-US" altLang="ja-JP" b="1" u="sng" dirty="0">
                <a:latin typeface="Consolas" panose="020B0609020204030204" pitchFamily="49" charset="0"/>
              </a:rPr>
              <a:t>0,1,2,3,4,5,......,</a:t>
            </a:r>
            <a:r>
              <a:rPr lang="en-US" altLang="ja-JP" b="1" u="sng" dirty="0" err="1">
                <a:latin typeface="Consolas" panose="020B0609020204030204" pitchFamily="49" charset="0"/>
              </a:rPr>
              <a:t>i</a:t>
            </a:r>
            <a:r>
              <a:rPr lang="en-US" altLang="ja-JP" b="1" dirty="0">
                <a:latin typeface="Consolas" panose="020B0609020204030204" pitchFamily="49" charset="0"/>
              </a:rPr>
              <a:t>]</a:t>
            </a:r>
          </a:p>
          <a:p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288394-951C-07B0-FEDB-E0C8D84D6057}"/>
              </a:ext>
            </a:extLst>
          </p:cNvPr>
          <p:cNvSpPr/>
          <p:nvPr/>
        </p:nvSpPr>
        <p:spPr>
          <a:xfrm>
            <a:off x="1383620" y="5041037"/>
            <a:ext cx="4712380" cy="93303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36EA898-AA9A-B0C2-455F-23876FC267FF}"/>
              </a:ext>
            </a:extLst>
          </p:cNvPr>
          <p:cNvSpPr/>
          <p:nvPr/>
        </p:nvSpPr>
        <p:spPr>
          <a:xfrm>
            <a:off x="6787908" y="5041037"/>
            <a:ext cx="4712380" cy="93303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115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B8AF2-9762-893B-82B8-C2DDD20C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9619000-7573-982B-80D8-AFCA3EBF2872}"/>
              </a:ext>
            </a:extLst>
          </p:cNvPr>
          <p:cNvCxnSpPr>
            <a:cxnSpLocks/>
          </p:cNvCxnSpPr>
          <p:nvPr/>
        </p:nvCxnSpPr>
        <p:spPr>
          <a:xfrm>
            <a:off x="337140" y="1309131"/>
            <a:ext cx="11379936" cy="0"/>
          </a:xfrm>
          <a:prstGeom prst="line">
            <a:avLst/>
          </a:prstGeom>
          <a:ln>
            <a:gradFill flip="none" rotWithShape="1">
              <a:gsLst>
                <a:gs pos="8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8EF4D7A-57BE-925F-FAE8-B7418252BC12}"/>
              </a:ext>
            </a:extLst>
          </p:cNvPr>
          <p:cNvSpPr txBox="1"/>
          <p:nvPr/>
        </p:nvSpPr>
        <p:spPr>
          <a:xfrm>
            <a:off x="1516453" y="288629"/>
            <a:ext cx="464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アルゴリズム解説</a:t>
            </a:r>
            <a:endParaRPr kumimoji="1" lang="ja-JP" altLang="en-US" sz="4000" b="1" dirty="0">
              <a:solidFill>
                <a:schemeClr val="accent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6E45F56-D2E7-8FE4-DDA3-151BB057E10E}"/>
              </a:ext>
            </a:extLst>
          </p:cNvPr>
          <p:cNvSpPr txBox="1"/>
          <p:nvPr/>
        </p:nvSpPr>
        <p:spPr>
          <a:xfrm>
            <a:off x="8662667" y="838161"/>
            <a:ext cx="3054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accent2"/>
                </a:solidFill>
                <a:latin typeface="Consolas" panose="020B0609020204030204" pitchFamily="49" charset="0"/>
              </a:rPr>
              <a:t>~ for-else</a:t>
            </a:r>
            <a:r>
              <a:rPr lang="ja-JP" alt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800" dirty="0">
                <a:solidFill>
                  <a:schemeClr val="accent2"/>
                </a:solidFill>
                <a:latin typeface="Consolas" panose="020B0609020204030204" pitchFamily="49" charset="0"/>
              </a:rPr>
              <a:t>~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D409A669-5B19-83F2-B0FA-CACC7FA01F8B}"/>
              </a:ext>
            </a:extLst>
          </p:cNvPr>
          <p:cNvSpPr/>
          <p:nvPr/>
        </p:nvSpPr>
        <p:spPr>
          <a:xfrm>
            <a:off x="522983" y="170427"/>
            <a:ext cx="949682" cy="94968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4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5245D47-3ED9-6EB5-06C5-E5843BE76058}"/>
              </a:ext>
            </a:extLst>
          </p:cNvPr>
          <p:cNvSpPr/>
          <p:nvPr/>
        </p:nvSpPr>
        <p:spPr>
          <a:xfrm>
            <a:off x="533143" y="3300373"/>
            <a:ext cx="5972019" cy="2860486"/>
          </a:xfrm>
          <a:prstGeom prst="roundRect">
            <a:avLst>
              <a:gd name="adj" fmla="val 2741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ja-JP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i </a:t>
            </a:r>
            <a:r>
              <a:rPr lang="ja-JP" altLang="ja-JP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range(len(lst)): </a:t>
            </a:r>
          </a:p>
          <a:p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ja-JP" altLang="ja-JP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j </a:t>
            </a:r>
            <a:r>
              <a:rPr lang="ja-JP" altLang="ja-JP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range(0,i):</a:t>
            </a:r>
          </a:p>
          <a:p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ja-JP" altLang="ja-JP" sz="2400" b="1" i="1" dirty="0">
                <a:solidFill>
                  <a:srgbClr val="00B050"/>
                </a:solidFill>
                <a:latin typeface="Consolas" panose="020B0609020204030204" pitchFamily="49" charset="0"/>
              </a:rPr>
              <a:t>if</a:t>
            </a:r>
            <a:r>
              <a:rPr lang="ja-JP" altLang="ja-JP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 (lst[j] == lst[i]):</a:t>
            </a:r>
          </a:p>
          <a:p>
            <a:r>
              <a:rPr lang="ja-JP" altLang="ja-JP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                </a:t>
            </a:r>
            <a:r>
              <a:rPr lang="ja-JP" altLang="ja-JP" sz="2400" b="1" i="1" dirty="0">
                <a:solidFill>
                  <a:srgbClr val="00B050"/>
                </a:solidFill>
                <a:latin typeface="Consolas" panose="020B0609020204030204" pitchFamily="49" charset="0"/>
              </a:rPr>
              <a:t>break</a:t>
            </a:r>
            <a:endParaRPr lang="ja-JP" altLang="ja-JP" sz="24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ja-JP" altLang="ja-JP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        </a:t>
            </a:r>
            <a:r>
              <a:rPr lang="ja-JP" altLang="ja-JP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ja-JP" altLang="ja-JP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            </a:t>
            </a:r>
            <a:r>
              <a:rPr lang="ja-JP" altLang="ja-JP" sz="2400" b="1" u="sng" dirty="0">
                <a:solidFill>
                  <a:schemeClr val="accent5"/>
                </a:solidFill>
                <a:latin typeface="Consolas" panose="020B0609020204030204" pitchFamily="49" charset="0"/>
              </a:rPr>
              <a:t>result.append(lst[i])</a:t>
            </a:r>
          </a:p>
          <a:p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ja-JP" altLang="ja-JP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ja-JP" altLang="ja-JP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result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285770-8304-F763-9EB5-75C8A1030E65}"/>
              </a:ext>
            </a:extLst>
          </p:cNvPr>
          <p:cNvSpPr txBox="1"/>
          <p:nvPr/>
        </p:nvSpPr>
        <p:spPr>
          <a:xfrm>
            <a:off x="533143" y="1361381"/>
            <a:ext cx="112646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2.</a:t>
            </a:r>
            <a:r>
              <a:rPr lang="ja-JP" altLang="en-US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マーカー（</a:t>
            </a:r>
            <a:r>
              <a:rPr lang="en-US" altLang="ja-JP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j</a:t>
            </a:r>
            <a:r>
              <a:rPr lang="ja-JP" altLang="en-US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）の位置を左から右に動かして値を比較：</a:t>
            </a:r>
          </a:p>
          <a:p>
            <a:r>
              <a:rPr lang="en-US" altLang="ja-JP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	</a:t>
            </a:r>
            <a:r>
              <a:rPr lang="ja-JP" altLang="en-US" sz="2000" b="1" dirty="0">
                <a:solidFill>
                  <a:srgbClr val="00B05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○ </a:t>
            </a:r>
            <a:r>
              <a:rPr lang="en-US" altLang="ja-JP" sz="2000" b="1" dirty="0">
                <a:solidFill>
                  <a:srgbClr val="00B05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</a:t>
            </a:r>
            <a:r>
              <a:rPr lang="ja-JP" altLang="en-US" sz="2000" b="1" dirty="0">
                <a:solidFill>
                  <a:srgbClr val="00B05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固定した値</a:t>
            </a:r>
            <a:r>
              <a:rPr lang="en-US" altLang="ja-JP" sz="2000" b="1" dirty="0">
                <a:solidFill>
                  <a:srgbClr val="00B05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] == [</a:t>
            </a:r>
            <a:r>
              <a:rPr lang="ja-JP" altLang="en-US" sz="2000" b="1" dirty="0">
                <a:solidFill>
                  <a:srgbClr val="00B05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マーカーの値</a:t>
            </a:r>
            <a:r>
              <a:rPr lang="en-US" altLang="ja-JP" sz="2000" b="1" dirty="0">
                <a:solidFill>
                  <a:srgbClr val="00B05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] </a:t>
            </a:r>
            <a:r>
              <a:rPr lang="ja-JP" altLang="en-US" sz="2000" b="1" dirty="0">
                <a:solidFill>
                  <a:srgbClr val="00B05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であれば 「重複あり」とみなし、比較を中断</a:t>
            </a:r>
            <a:r>
              <a:rPr lang="en-US" altLang="ja-JP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	</a:t>
            </a:r>
          </a:p>
          <a:p>
            <a:r>
              <a:rPr lang="en-US" altLang="ja-JP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	</a:t>
            </a:r>
            <a:r>
              <a:rPr lang="ja-JP" altLang="en-US" sz="2000" b="1" dirty="0">
                <a:solidFill>
                  <a:schemeClr val="accent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○ そうでなければマーカーを右に動かす</a:t>
            </a:r>
            <a:endParaRPr lang="en-US" altLang="ja-JP" sz="2000" b="1" dirty="0">
              <a:solidFill>
                <a:schemeClr val="accent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2000" b="1" u="sng" dirty="0">
                <a:solidFill>
                  <a:schemeClr val="accent5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3.【</a:t>
            </a:r>
            <a:r>
              <a:rPr lang="ja-JP" altLang="en-US" sz="2000" b="1" u="sng" dirty="0">
                <a:solidFill>
                  <a:schemeClr val="accent5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追加</a:t>
            </a:r>
            <a:r>
              <a:rPr lang="en-US" altLang="ja-JP" sz="2000" b="1" u="sng" dirty="0">
                <a:solidFill>
                  <a:schemeClr val="accent5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  <a:r>
              <a:rPr lang="ja-JP" altLang="en-US" sz="2000" b="1" u="sng" dirty="0">
                <a:solidFill>
                  <a:schemeClr val="accent5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マーカーが右端に届くまでに一度も一致しなかったら、固定した値を結果に追加する</a:t>
            </a:r>
          </a:p>
          <a:p>
            <a:endParaRPr lang="ja-JP" altLang="en-US" sz="2000" b="1" dirty="0">
              <a:solidFill>
                <a:srgbClr val="00B0F0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ja-JP" altLang="en-US" sz="2000" b="1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56DA53-E7C9-5062-B284-68B8C54C29F4}"/>
              </a:ext>
            </a:extLst>
          </p:cNvPr>
          <p:cNvSpPr/>
          <p:nvPr/>
        </p:nvSpPr>
        <p:spPr>
          <a:xfrm>
            <a:off x="2579374" y="4216137"/>
            <a:ext cx="3790946" cy="752104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A555608-9A8B-D32D-7C57-5E38B7CC6532}"/>
              </a:ext>
            </a:extLst>
          </p:cNvPr>
          <p:cNvSpPr txBox="1"/>
          <p:nvPr/>
        </p:nvSpPr>
        <p:spPr>
          <a:xfrm>
            <a:off x="6936583" y="4948704"/>
            <a:ext cx="442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u="sng" dirty="0">
                <a:solidFill>
                  <a:schemeClr val="accent2"/>
                </a:solidFill>
                <a:latin typeface="Consolas" panose="020B0609020204030204" pitchFamily="49" charset="0"/>
              </a:rPr>
              <a:t>set() </a:t>
            </a:r>
          </a:p>
          <a:p>
            <a:r>
              <a:rPr lang="ja-JP" altLang="en-US" sz="2400" u="sng" dirty="0">
                <a:solidFill>
                  <a:schemeClr val="accent2"/>
                </a:solidFill>
              </a:rPr>
              <a:t>を使えば集合型</a:t>
            </a:r>
            <a:r>
              <a:rPr lang="en-US" altLang="ja-JP" sz="2400" u="sng" dirty="0">
                <a:solidFill>
                  <a:schemeClr val="accent2"/>
                </a:solidFill>
              </a:rPr>
              <a:t>({}</a:t>
            </a:r>
            <a:r>
              <a:rPr lang="ja-JP" altLang="en-US" sz="2400" u="sng" dirty="0">
                <a:solidFill>
                  <a:schemeClr val="accent2"/>
                </a:solidFill>
              </a:rPr>
              <a:t>の配列</a:t>
            </a:r>
            <a:r>
              <a:rPr lang="en-US" altLang="ja-JP" sz="2400" u="sng" dirty="0">
                <a:solidFill>
                  <a:schemeClr val="accent2"/>
                </a:solidFill>
              </a:rPr>
              <a:t>)</a:t>
            </a:r>
            <a:r>
              <a:rPr lang="ja-JP" altLang="en-US" sz="2400" u="sng" dirty="0">
                <a:solidFill>
                  <a:schemeClr val="accent2"/>
                </a:solidFill>
              </a:rPr>
              <a:t>で返される。</a:t>
            </a:r>
            <a:endParaRPr kumimoji="1" lang="ja-JP" altLang="en-US" sz="2400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07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21CA3-B8D2-6817-EF3A-84519B78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3F231B2-D14E-9581-1F84-8BC954BD770E}"/>
              </a:ext>
            </a:extLst>
          </p:cNvPr>
          <p:cNvCxnSpPr>
            <a:cxnSpLocks/>
          </p:cNvCxnSpPr>
          <p:nvPr/>
        </p:nvCxnSpPr>
        <p:spPr>
          <a:xfrm>
            <a:off x="337140" y="1309131"/>
            <a:ext cx="11379936" cy="0"/>
          </a:xfrm>
          <a:prstGeom prst="line">
            <a:avLst/>
          </a:prstGeom>
          <a:ln>
            <a:gradFill flip="none" rotWithShape="1">
              <a:gsLst>
                <a:gs pos="8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8E2231C-2FCA-1507-ED36-6E51EA6E621F}"/>
              </a:ext>
            </a:extLst>
          </p:cNvPr>
          <p:cNvSpPr txBox="1"/>
          <p:nvPr/>
        </p:nvSpPr>
        <p:spPr>
          <a:xfrm>
            <a:off x="1516453" y="288629"/>
            <a:ext cx="464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クイズ解答</a:t>
            </a:r>
            <a:endParaRPr kumimoji="1" lang="ja-JP" altLang="en-US" sz="4000" b="1" dirty="0">
              <a:solidFill>
                <a:schemeClr val="accent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E97C2E3A-5BBA-7B48-D2BB-34C5329DF2D0}"/>
              </a:ext>
            </a:extLst>
          </p:cNvPr>
          <p:cNvSpPr/>
          <p:nvPr/>
        </p:nvSpPr>
        <p:spPr>
          <a:xfrm>
            <a:off x="522983" y="170427"/>
            <a:ext cx="949682" cy="94968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4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0E8A9B9-3F63-BD37-8836-C12EE804A148}"/>
              </a:ext>
            </a:extLst>
          </p:cNvPr>
          <p:cNvSpPr txBox="1"/>
          <p:nvPr/>
        </p:nvSpPr>
        <p:spPr>
          <a:xfrm>
            <a:off x="2489200" y="1456936"/>
            <a:ext cx="721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600" dirty="0">
                <a:latin typeface="Consolas" panose="020B0609020204030204" pitchFamily="49" charset="0"/>
                <a:ea typeface="ＭＳ Ｐ明朝" panose="02020600040205080304" pitchFamily="18" charset="-128"/>
              </a:rPr>
              <a:t>['a', 'b', </a:t>
            </a:r>
            <a:r>
              <a:rPr lang="en-US" altLang="ja-JP" sz="3600" u="sng" dirty="0">
                <a:solidFill>
                  <a:srgbClr val="FF0000"/>
                </a:solidFill>
                <a:latin typeface="Consolas" panose="020B0609020204030204" pitchFamily="49" charset="0"/>
                <a:ea typeface="ＭＳ Ｐ明朝" panose="02020600040205080304" pitchFamily="18" charset="-128"/>
              </a:rPr>
              <a:t>'a', </a:t>
            </a:r>
            <a:r>
              <a:rPr lang="en-US" altLang="ja-JP" sz="3600" dirty="0">
                <a:latin typeface="Consolas" panose="020B0609020204030204" pitchFamily="49" charset="0"/>
                <a:ea typeface="ＭＳ Ｐ明朝" panose="02020600040205080304" pitchFamily="18" charset="-128"/>
              </a:rPr>
              <a:t>'c', </a:t>
            </a:r>
            <a:r>
              <a:rPr lang="en-US" altLang="ja-JP" sz="3600" u="sng" dirty="0">
                <a:solidFill>
                  <a:srgbClr val="FF0000"/>
                </a:solidFill>
                <a:latin typeface="Consolas" panose="020B0609020204030204" pitchFamily="49" charset="0"/>
                <a:ea typeface="ＭＳ Ｐ明朝" panose="02020600040205080304" pitchFamily="18" charset="-128"/>
              </a:rPr>
              <a:t>‘d'</a:t>
            </a:r>
            <a:r>
              <a:rPr lang="en-US" altLang="ja-JP" sz="3600" dirty="0">
                <a:latin typeface="Consolas" panose="020B0609020204030204" pitchFamily="49" charset="0"/>
                <a:ea typeface="ＭＳ Ｐ明朝" panose="02020600040205080304" pitchFamily="18" charset="-128"/>
              </a:rPr>
              <a:t>]</a:t>
            </a:r>
            <a:endParaRPr lang="ja-JP" altLang="en-US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91AEFA-E548-B778-6991-68AB4B47E170}"/>
              </a:ext>
            </a:extLst>
          </p:cNvPr>
          <p:cNvSpPr txBox="1"/>
          <p:nvPr/>
        </p:nvSpPr>
        <p:spPr>
          <a:xfrm>
            <a:off x="2223374" y="3189069"/>
            <a:ext cx="885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600" dirty="0" err="1">
                <a:latin typeface="Consolas" panose="020B0609020204030204" pitchFamily="49" charset="0"/>
                <a:ea typeface="ＭＳ Ｐ明朝" panose="02020600040205080304" pitchFamily="18" charset="-128"/>
              </a:rPr>
              <a:t>len</a:t>
            </a:r>
            <a:r>
              <a:rPr lang="en-US" altLang="ja-JP" sz="3600" dirty="0">
                <a:latin typeface="Consolas" panose="020B0609020204030204" pitchFamily="49" charset="0"/>
                <a:ea typeface="ＭＳ Ｐ明朝" panose="02020600040205080304" pitchFamily="18" charset="-128"/>
              </a:rPr>
              <a:t>(['a', 'b', ‘c’ ,’d’]) </a:t>
            </a:r>
            <a:r>
              <a:rPr lang="en-US" altLang="ja-JP" sz="3600" u="sng" dirty="0">
                <a:solidFill>
                  <a:srgbClr val="0070C0"/>
                </a:solidFill>
                <a:latin typeface="Consolas" panose="020B0609020204030204" pitchFamily="49" charset="0"/>
                <a:ea typeface="ＭＳ Ｐ明朝" panose="02020600040205080304" pitchFamily="18" charset="-128"/>
              </a:rPr>
              <a:t>= 4</a:t>
            </a:r>
            <a:endParaRPr lang="ja-JP" altLang="en-US" sz="2800" u="sng" dirty="0">
              <a:solidFill>
                <a:srgbClr val="0070C0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149C49C-2BAF-2FB9-9E2E-06BD921309FD}"/>
              </a:ext>
            </a:extLst>
          </p:cNvPr>
          <p:cNvSpPr/>
          <p:nvPr/>
        </p:nvSpPr>
        <p:spPr>
          <a:xfrm>
            <a:off x="7862971" y="5476181"/>
            <a:ext cx="3679657" cy="8374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>
                <a:solidFill>
                  <a:srgbClr val="0070C0"/>
                </a:solidFill>
              </a:rPr>
              <a:t>解答 </a:t>
            </a:r>
            <a:r>
              <a:rPr lang="en-US" altLang="ja-JP" sz="4800" b="1" dirty="0">
                <a:solidFill>
                  <a:srgbClr val="0070C0"/>
                </a:solidFill>
              </a:rPr>
              <a:t>: 4</a:t>
            </a:r>
            <a:endParaRPr kumimoji="1" lang="ja-JP" altLang="en-US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209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53391-7495-A183-1815-713C03B9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質問表</a:t>
            </a:r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7E07DB78-A9B7-F5BF-D8D5-86E96377E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061630"/>
              </p:ext>
            </p:extLst>
          </p:nvPr>
        </p:nvGraphicFramePr>
        <p:xfrm>
          <a:off x="838200" y="1766146"/>
          <a:ext cx="8128000" cy="2021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447371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117749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96514896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70805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質問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評価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284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服部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26G3097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err="1">
                          <a:latin typeface="Consolas" panose="020B0609020204030204" pitchFamily="49" charset="0"/>
                        </a:rPr>
                        <a:t>lst</a:t>
                      </a:r>
                      <a:r>
                        <a:rPr kumimoji="1" lang="en-US" altLang="ja-JP" dirty="0">
                          <a:latin typeface="Consolas" panose="020B0609020204030204" pitchFamily="49" charset="0"/>
                        </a:rPr>
                        <a:t>[0] == </a:t>
                      </a:r>
                      <a:r>
                        <a:rPr kumimoji="1" lang="en-US" altLang="ja-JP" dirty="0" err="1">
                          <a:latin typeface="Consolas" panose="020B0609020204030204" pitchFamily="49" charset="0"/>
                        </a:rPr>
                        <a:t>lst</a:t>
                      </a:r>
                      <a:r>
                        <a:rPr kumimoji="1" lang="en-US" altLang="ja-JP" dirty="0">
                          <a:latin typeface="Consolas" panose="020B0609020204030204" pitchFamily="49" charset="0"/>
                        </a:rPr>
                        <a:t>[0]</a:t>
                      </a:r>
                      <a:r>
                        <a:rPr kumimoji="1" lang="ja-JP" altLang="en-US" dirty="0"/>
                        <a:t>を比較されないのか？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851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杉山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26G3107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Set</a:t>
                      </a:r>
                      <a:r>
                        <a:rPr kumimoji="1" lang="ja-JP" altLang="en-US" dirty="0"/>
                        <a:t>を使うと何が起きるか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15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鶴見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26G3079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アルゴリズムとは何か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634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258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528</Words>
  <Application>Microsoft Office PowerPoint</Application>
  <PresentationFormat>ワイド画面</PresentationFormat>
  <Paragraphs>91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BIZ UDゴシック</vt:lpstr>
      <vt:lpstr>Meiryo UI</vt:lpstr>
      <vt:lpstr>ＭＳ Ｐ明朝</vt:lpstr>
      <vt:lpstr>游ゴシック</vt:lpstr>
      <vt:lpstr>游ゴシック Light</vt:lpstr>
      <vt:lpstr>Arial</vt:lpstr>
      <vt:lpstr>Consolas</vt:lpstr>
      <vt:lpstr>Office テーマ</vt:lpstr>
      <vt:lpstr>問題 2-8　解法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質問表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　泰慶</dc:creator>
  <cp:lastModifiedBy>小谷　泰慶</cp:lastModifiedBy>
  <cp:revision>5</cp:revision>
  <dcterms:created xsi:type="dcterms:W3CDTF">2026-09-22T01:29:13Z</dcterms:created>
  <dcterms:modified xsi:type="dcterms:W3CDTF">2026-09-29T03:43:07Z</dcterms:modified>
</cp:coreProperties>
</file>